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3" r:id="rId20"/>
    <p:sldId id="274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867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3366"/>
                </a:solidFill>
              </a:rPr>
              <a:t>Quiz I</a:t>
            </a:r>
            <a:br>
              <a:rPr lang="en-IN" sz="2800" b="1" dirty="0">
                <a:solidFill>
                  <a:srgbClr val="003366"/>
                </a:solidFill>
              </a:rPr>
            </a:br>
            <a:r>
              <a:rPr lang="en-IN" sz="2800" b="1" dirty="0">
                <a:solidFill>
                  <a:srgbClr val="003366"/>
                </a:solidFill>
              </a:rPr>
              <a:t>Programming in c </a:t>
            </a:r>
            <a:endParaRPr sz="2800" b="1" dirty="0">
              <a:solidFill>
                <a:srgbClr val="0033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r">
              <a:buNone/>
            </a:pPr>
            <a:r>
              <a:rPr sz="2200" b="1" dirty="0">
                <a:solidFill>
                  <a:srgbClr val="000000"/>
                </a:solidFill>
              </a:rPr>
              <a:t>Date22/09/2025</a:t>
            </a:r>
            <a:endParaRPr lang="en-IN" sz="2200" b="1" dirty="0">
              <a:solidFill>
                <a:srgbClr val="000000"/>
              </a:solidFill>
            </a:endParaRPr>
          </a:p>
          <a:p>
            <a:r>
              <a:rPr lang="fr-FR" sz="2400" dirty="0"/>
              <a:t>This quiz </a:t>
            </a:r>
            <a:r>
              <a:rPr lang="fr-FR" sz="2400" dirty="0" err="1"/>
              <a:t>contains</a:t>
            </a:r>
            <a:r>
              <a:rPr lang="fr-FR" sz="2400" dirty="0"/>
              <a:t> </a:t>
            </a:r>
            <a:r>
              <a:rPr lang="fr-FR" sz="2400" b="1" dirty="0"/>
              <a:t>20 questions</a:t>
            </a:r>
            <a:r>
              <a:rPr lang="fr-FR" sz="2400" dirty="0"/>
              <a:t>.</a:t>
            </a:r>
          </a:p>
          <a:p>
            <a:r>
              <a:rPr lang="en-US" sz="2400" dirty="0"/>
              <a:t>Choose and write </a:t>
            </a:r>
            <a:r>
              <a:rPr lang="en-US" sz="2400" b="1" dirty="0"/>
              <a:t>only one correct answer</a:t>
            </a:r>
            <a:r>
              <a:rPr lang="en-US" sz="2400" dirty="0"/>
              <a:t> for each question.</a:t>
            </a:r>
            <a:endParaRPr sz="2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Q1. Which of the following is the correct code to output the text “Hello”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printf (“hello”;  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printf[“hello”];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</a:t>
            </a:r>
            <a:r>
              <a:rPr sz="2200" b="1" dirty="0">
                <a:solidFill>
                  <a:srgbClr val="000000"/>
                </a:solidFill>
                <a:highlight>
                  <a:srgbClr val="FFFF00"/>
                </a:highlight>
              </a:rPr>
              <a:t>printf(“hello”);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Q2. Which of the following is the format specifier for whole numbers?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&amp;d       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#d      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%n    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  <a:highlight>
                  <a:srgbClr val="FFFF00"/>
                </a:highlight>
              </a:rPr>
              <a:t>%d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3366"/>
                </a:solidFill>
              </a:rPr>
              <a:t>Q3. What is the output of this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ctr">
              <a:buNone/>
            </a:pPr>
            <a:r>
              <a:rPr sz="2200" b="1" dirty="0">
                <a:solidFill>
                  <a:srgbClr val="000000"/>
                </a:solidFill>
              </a:rPr>
              <a:t>printf(“%d%d%c”,3,2,’z’);</a:t>
            </a:r>
          </a:p>
          <a:p>
            <a:pPr marL="457200" indent="-457200">
              <a:buFont typeface="+mj-lt"/>
              <a:buAutoNum type="alphaLcPeriod"/>
            </a:pPr>
            <a:r>
              <a:rPr sz="2200" b="1" dirty="0" err="1">
                <a:solidFill>
                  <a:srgbClr val="000000"/>
                </a:solidFill>
              </a:rPr>
              <a:t>ddz</a:t>
            </a:r>
            <a:r>
              <a:rPr sz="2200" b="1" dirty="0">
                <a:solidFill>
                  <a:srgbClr val="000000"/>
                </a:solidFill>
              </a:rPr>
              <a:t> 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z23   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333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  <a:highlight>
                  <a:srgbClr val="FFFF00"/>
                </a:highlight>
              </a:rPr>
              <a:t> 32z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Q4. What is the output of this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x=9;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y=8;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x</a:t>
            </a:r>
            <a:r>
              <a:rPr sz="2200" dirty="0">
                <a:solidFill>
                  <a:srgbClr val="000000"/>
                </a:solidFill>
              </a:rPr>
              <a:t>=3;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p</a:t>
            </a:r>
            <a:r>
              <a:rPr sz="2200" dirty="0" err="1">
                <a:solidFill>
                  <a:srgbClr val="000000"/>
                </a:solidFill>
              </a:rPr>
              <a:t>rintf</a:t>
            </a:r>
            <a:r>
              <a:rPr sz="2200" dirty="0">
                <a:solidFill>
                  <a:srgbClr val="000000"/>
                </a:solidFill>
              </a:rPr>
              <a:t>(“%</a:t>
            </a:r>
            <a:r>
              <a:rPr sz="2200" dirty="0" err="1">
                <a:solidFill>
                  <a:srgbClr val="000000"/>
                </a:solidFill>
              </a:rPr>
              <a:t>d%d</a:t>
            </a:r>
            <a:r>
              <a:rPr sz="2200" dirty="0">
                <a:solidFill>
                  <a:srgbClr val="000000"/>
                </a:solidFill>
              </a:rPr>
              <a:t>”,</a:t>
            </a:r>
            <a:r>
              <a:rPr sz="2200" dirty="0" err="1">
                <a:solidFill>
                  <a:srgbClr val="000000"/>
                </a:solidFill>
              </a:rPr>
              <a:t>y,x</a:t>
            </a:r>
            <a:r>
              <a:rPr sz="2200" dirty="0">
                <a:solidFill>
                  <a:srgbClr val="000000"/>
                </a:solidFill>
              </a:rPr>
              <a:t>);</a:t>
            </a: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89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38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</a:t>
            </a:r>
            <a:r>
              <a:rPr sz="2200" b="1" dirty="0">
                <a:solidFill>
                  <a:srgbClr val="000000"/>
                </a:solidFill>
                <a:highlight>
                  <a:srgbClr val="FFFF00"/>
                </a:highlight>
              </a:rPr>
              <a:t>83 </a:t>
            </a:r>
            <a:endParaRPr lang="en-IN" sz="22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98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Q5. What is the output of this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a=2;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b=3;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c=1;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x=a+b-c + a;</a:t>
            </a: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5  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  <a:highlight>
                  <a:srgbClr val="FFFF00"/>
                </a:highlight>
              </a:rPr>
              <a:t>6   </a:t>
            </a:r>
            <a:endParaRPr lang="en-IN" sz="22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Q6. What is the output of this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x=9;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y=4;</a:t>
            </a:r>
          </a:p>
          <a:p>
            <a:pPr marL="0" indent="0" algn="ctr">
              <a:buNone/>
            </a:pPr>
            <a:r>
              <a:rPr sz="2200" dirty="0">
                <a:solidFill>
                  <a:srgbClr val="000000"/>
                </a:solidFill>
              </a:rPr>
              <a:t>printf(“%</a:t>
            </a:r>
            <a:r>
              <a:rPr sz="2200" dirty="0" err="1">
                <a:solidFill>
                  <a:srgbClr val="000000"/>
                </a:solidFill>
              </a:rPr>
              <a:t>d”,x</a:t>
            </a:r>
            <a:r>
              <a:rPr sz="2200" dirty="0">
                <a:solidFill>
                  <a:srgbClr val="000000"/>
                </a:solidFill>
              </a:rPr>
              <a:t>/y);</a:t>
            </a: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1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2.25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3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  <a:highlight>
                  <a:srgbClr val="FFFF00"/>
                </a:highlight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Q7. Which choice indicates a valid single-line comment?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  <a:highlight>
                  <a:srgbClr val="FFFF00"/>
                </a:highlight>
              </a:rPr>
              <a:t>//some text</a:t>
            </a:r>
            <a:endParaRPr lang="en-IN" sz="22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#some text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**some text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/*some text*/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925720-3E84-E224-CF5C-1E21F210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E986-95F4-9845-D5F1-02969976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3366"/>
                </a:solidFill>
              </a:rPr>
              <a:t>Q</a:t>
            </a:r>
            <a:r>
              <a:rPr lang="en-IN" sz="2800" b="1" dirty="0">
                <a:solidFill>
                  <a:srgbClr val="003366"/>
                </a:solidFill>
              </a:rPr>
              <a:t>8</a:t>
            </a:r>
            <a:r>
              <a:rPr sz="2800" b="1" dirty="0">
                <a:solidFill>
                  <a:srgbClr val="003366"/>
                </a:solidFill>
              </a:rPr>
              <a:t>. </a:t>
            </a:r>
            <a:r>
              <a:rPr sz="2800" b="1" dirty="0" err="1">
                <a:solidFill>
                  <a:srgbClr val="003366"/>
                </a:solidFill>
              </a:rPr>
              <a:t>Wh</a:t>
            </a:r>
            <a:r>
              <a:rPr lang="en-IN" sz="2800" b="1" dirty="0">
                <a:solidFill>
                  <a:srgbClr val="003366"/>
                </a:solidFill>
              </a:rPr>
              <a:t>ich is not a keyword</a:t>
            </a:r>
            <a:endParaRPr sz="2800" b="1" dirty="0">
              <a:solidFill>
                <a:srgbClr val="0033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29F2A-F1C6-6DA1-6100-F66E684B01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endParaRPr sz="2200" dirty="0">
              <a:solidFill>
                <a:srgbClr val="0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1C1A5-802F-6346-B147-5274E2B781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a</a:t>
            </a:r>
            <a:r>
              <a:rPr lang="es-ES" b="1" dirty="0">
                <a:solidFill>
                  <a:srgbClr val="000000"/>
                </a:solidFill>
                <a:highlight>
                  <a:srgbClr val="FFFF00"/>
                </a:highlight>
              </a:rPr>
              <a:t>) </a:t>
            </a:r>
            <a:r>
              <a:rPr lang="es-ES" b="1" dirty="0" err="1">
                <a:solidFill>
                  <a:srgbClr val="000000"/>
                </a:solidFill>
                <a:highlight>
                  <a:srgbClr val="FFFF00"/>
                </a:highlight>
              </a:rPr>
              <a:t>include</a:t>
            </a:r>
            <a:endParaRPr lang="es-ES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b) </a:t>
            </a:r>
            <a:r>
              <a:rPr lang="es-ES" b="1" dirty="0" err="1">
                <a:solidFill>
                  <a:srgbClr val="000000"/>
                </a:solidFill>
              </a:rPr>
              <a:t>int</a:t>
            </a:r>
            <a:endParaRPr lang="es-ES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  <a:highlight>
                  <a:srgbClr val="FFFF00"/>
                </a:highlight>
              </a:rPr>
              <a:t>c) </a:t>
            </a:r>
            <a:r>
              <a:rPr lang="es-ES" b="1" dirty="0" err="1">
                <a:solidFill>
                  <a:srgbClr val="000000"/>
                </a:solidFill>
                <a:highlight>
                  <a:srgbClr val="FFFF00"/>
                </a:highlight>
              </a:rPr>
              <a:t>string</a:t>
            </a:r>
            <a:endParaRPr lang="es-ES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d) </a:t>
            </a:r>
            <a:r>
              <a:rPr lang="es-ES" b="1" dirty="0" err="1">
                <a:solidFill>
                  <a:srgbClr val="000000"/>
                </a:solidFill>
              </a:rPr>
              <a:t>float</a:t>
            </a:r>
            <a:endParaRPr lang="es-ES" b="1" dirty="0">
              <a:solidFill>
                <a:srgbClr val="00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7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3366"/>
                </a:solidFill>
              </a:rPr>
              <a:t>Q9. How many </a:t>
            </a:r>
            <a:r>
              <a:rPr lang="en-IN" sz="2800" b="1" dirty="0">
                <a:solidFill>
                  <a:srgbClr val="003366"/>
                </a:solidFill>
              </a:rPr>
              <a:t>times loop </a:t>
            </a:r>
            <a:r>
              <a:rPr lang="en-IN" sz="2800" b="1">
                <a:solidFill>
                  <a:srgbClr val="003366"/>
                </a:solidFill>
              </a:rPr>
              <a:t>will run?</a:t>
            </a:r>
            <a:endParaRPr sz="2800" b="1">
              <a:solidFill>
                <a:srgbClr val="0033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x=3;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w</a:t>
            </a:r>
            <a:r>
              <a:rPr sz="2200" dirty="0" err="1">
                <a:solidFill>
                  <a:srgbClr val="000000"/>
                </a:solidFill>
              </a:rPr>
              <a:t>hile</a:t>
            </a:r>
            <a:r>
              <a:rPr sz="2200" dirty="0">
                <a:solidFill>
                  <a:srgbClr val="000000"/>
                </a:solidFill>
              </a:rPr>
              <a:t> (x&lt;=6) {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p</a:t>
            </a:r>
            <a:r>
              <a:rPr sz="2200" dirty="0" err="1">
                <a:solidFill>
                  <a:srgbClr val="000000"/>
                </a:solidFill>
              </a:rPr>
              <a:t>rintf</a:t>
            </a:r>
            <a:r>
              <a:rPr sz="2200" dirty="0">
                <a:solidFill>
                  <a:srgbClr val="000000"/>
                </a:solidFill>
              </a:rPr>
              <a:t>(“%d\</a:t>
            </a:r>
            <a:r>
              <a:rPr sz="2200" dirty="0" err="1">
                <a:solidFill>
                  <a:srgbClr val="000000"/>
                </a:solidFill>
              </a:rPr>
              <a:t>n”,x</a:t>
            </a:r>
            <a:r>
              <a:rPr sz="2200" dirty="0">
                <a:solidFill>
                  <a:srgbClr val="000000"/>
                </a:solidFill>
              </a:rPr>
              <a:t>);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x</a:t>
            </a:r>
            <a:r>
              <a:rPr sz="2200" dirty="0">
                <a:solidFill>
                  <a:srgbClr val="000000"/>
                </a:solidFill>
              </a:rPr>
              <a:t>=x+2;</a:t>
            </a:r>
          </a:p>
          <a:p>
            <a:pPr marL="0" indent="0" algn="ctr">
              <a:buNone/>
            </a:pPr>
            <a:r>
              <a:rPr sz="2200" dirty="0">
                <a:solidFill>
                  <a:srgbClr val="000000"/>
                </a:solidFill>
              </a:rPr>
              <a:t>}</a:t>
            </a:r>
          </a:p>
          <a:p>
            <a:pPr marL="457200" indent="-457200" algn="just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1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3 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  <a:highlight>
                  <a:srgbClr val="FFFF00"/>
                </a:highlight>
              </a:rPr>
              <a:t> 2  </a:t>
            </a:r>
            <a:endParaRPr lang="en-IN" sz="22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457200" indent="-457200" algn="just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Q10 what is the output of this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6326"/>
            <a:ext cx="8229600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x=2;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y=5;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x</a:t>
            </a:r>
            <a:r>
              <a:rPr sz="2200" dirty="0">
                <a:solidFill>
                  <a:srgbClr val="000000"/>
                </a:solidFill>
              </a:rPr>
              <a:t> +=1;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y</a:t>
            </a:r>
            <a:r>
              <a:rPr sz="2200" dirty="0">
                <a:solidFill>
                  <a:srgbClr val="000000"/>
                </a:solidFill>
              </a:rPr>
              <a:t>-=x;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y</a:t>
            </a:r>
            <a:r>
              <a:rPr sz="2200" dirty="0">
                <a:solidFill>
                  <a:srgbClr val="000000"/>
                </a:solidFill>
              </a:rPr>
              <a:t>++;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p</a:t>
            </a:r>
            <a:r>
              <a:rPr sz="2200" dirty="0" err="1">
                <a:solidFill>
                  <a:srgbClr val="000000"/>
                </a:solidFill>
              </a:rPr>
              <a:t>rintf</a:t>
            </a:r>
            <a:r>
              <a:rPr sz="2200" dirty="0">
                <a:solidFill>
                  <a:srgbClr val="000000"/>
                </a:solidFill>
              </a:rPr>
              <a:t>(“%</a:t>
            </a:r>
            <a:r>
              <a:rPr sz="2200" dirty="0" err="1">
                <a:solidFill>
                  <a:srgbClr val="000000"/>
                </a:solidFill>
              </a:rPr>
              <a:t>d”,y</a:t>
            </a:r>
            <a:r>
              <a:rPr sz="2200" dirty="0">
                <a:solidFill>
                  <a:srgbClr val="000000"/>
                </a:solidFill>
              </a:rPr>
              <a:t>);</a:t>
            </a: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2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  <a:highlight>
                  <a:srgbClr val="FFFF00"/>
                </a:highlight>
              </a:rPr>
              <a:t>3  </a:t>
            </a:r>
            <a:endParaRPr lang="en-IN" sz="22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1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Q11. What is the output of this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f</a:t>
            </a:r>
            <a:r>
              <a:rPr sz="2200" dirty="0">
                <a:solidFill>
                  <a:srgbClr val="000000"/>
                </a:solidFill>
              </a:rPr>
              <a:t>or(int i=3; i&lt;=10; i+=3){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p</a:t>
            </a:r>
            <a:r>
              <a:rPr sz="2200" dirty="0" err="1">
                <a:solidFill>
                  <a:srgbClr val="000000"/>
                </a:solidFill>
              </a:rPr>
              <a:t>rintf</a:t>
            </a:r>
            <a:r>
              <a:rPr sz="2200" dirty="0">
                <a:solidFill>
                  <a:srgbClr val="000000"/>
                </a:solidFill>
              </a:rPr>
              <a:t>(“%</a:t>
            </a:r>
            <a:r>
              <a:rPr sz="2200" dirty="0" err="1">
                <a:solidFill>
                  <a:srgbClr val="000000"/>
                </a:solidFill>
              </a:rPr>
              <a:t>d”,i</a:t>
            </a:r>
            <a:r>
              <a:rPr sz="2200" dirty="0">
                <a:solidFill>
                  <a:srgbClr val="000000"/>
                </a:solidFill>
              </a:rPr>
              <a:t>)</a:t>
            </a:r>
          </a:p>
          <a:p>
            <a:pPr marL="0" indent="0" algn="ctr">
              <a:buNone/>
            </a:pPr>
            <a:r>
              <a:rPr sz="2200" dirty="0">
                <a:solidFill>
                  <a:srgbClr val="000000"/>
                </a:solidFill>
              </a:rPr>
              <a:t>}</a:t>
            </a: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0369   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36 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  <a:highlight>
                  <a:srgbClr val="FFFF00"/>
                </a:highlight>
              </a:rPr>
              <a:t>369  </a:t>
            </a:r>
            <a:r>
              <a:rPr sz="2200" b="1" dirty="0">
                <a:solidFill>
                  <a:srgbClr val="000000"/>
                </a:solidFill>
              </a:rPr>
              <a:t>    </a:t>
            </a:r>
            <a:endParaRPr lang="en-IN" sz="2200" b="1" dirty="0">
              <a:solidFill>
                <a:srgbClr val="000000"/>
              </a:solidFill>
            </a:endParaRPr>
          </a:p>
          <a:p>
            <a:pPr marL="457200" indent="-457200">
              <a:buFont typeface="+mj-lt"/>
              <a:buAutoNum type="alphaLcPeriod"/>
            </a:pPr>
            <a:r>
              <a:rPr sz="2200" b="1" dirty="0">
                <a:solidFill>
                  <a:srgbClr val="000000"/>
                </a:solidFill>
              </a:rPr>
              <a:t> 69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3366"/>
                </a:solidFill>
              </a:rPr>
              <a:t>Q12. </a:t>
            </a:r>
            <a:r>
              <a:rPr lang="en-IN" sz="2800" b="1" dirty="0">
                <a:solidFill>
                  <a:srgbClr val="003366"/>
                </a:solidFill>
              </a:rPr>
              <a:t>what is the value of x?</a:t>
            </a:r>
            <a:endParaRPr sz="2800" b="1" dirty="0">
              <a:solidFill>
                <a:srgbClr val="0033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    int x;</a:t>
            </a:r>
            <a:endParaRPr dirty="0"/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f</a:t>
            </a:r>
            <a:r>
              <a:rPr sz="2200" dirty="0">
                <a:solidFill>
                  <a:srgbClr val="000000"/>
                </a:solidFill>
              </a:rPr>
              <a:t>or( x=3;x&lt;10;x++){</a:t>
            </a:r>
          </a:p>
          <a:p>
            <a:pPr marL="0" indent="0" algn="ctr">
              <a:buNone/>
            </a:pPr>
            <a:r>
              <a:rPr sz="2200" dirty="0">
                <a:solidFill>
                  <a:srgbClr val="000000"/>
                </a:solidFill>
              </a:rPr>
              <a:t>If(x == 5) {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c</a:t>
            </a:r>
            <a:r>
              <a:rPr sz="2200" dirty="0" err="1">
                <a:solidFill>
                  <a:srgbClr val="000000"/>
                </a:solidFill>
              </a:rPr>
              <a:t>ontinue</a:t>
            </a:r>
            <a:r>
              <a:rPr sz="2200" dirty="0">
                <a:solidFill>
                  <a:srgbClr val="000000"/>
                </a:solidFill>
              </a:rPr>
              <a:t>;</a:t>
            </a:r>
          </a:p>
          <a:p>
            <a:pPr marL="0" indent="0" algn="ctr">
              <a:buNone/>
            </a:pPr>
            <a:r>
              <a:rPr sz="2200" dirty="0">
                <a:solidFill>
                  <a:srgbClr val="000000"/>
                </a:solidFill>
              </a:rPr>
              <a:t>}</a:t>
            </a:r>
          </a:p>
          <a:p>
            <a:pPr marL="0" indent="0" algn="ctr">
              <a:buNone/>
            </a:pPr>
            <a:r>
              <a:rPr sz="2200" dirty="0">
                <a:solidFill>
                  <a:srgbClr val="000000"/>
                </a:solidFill>
              </a:rPr>
              <a:t>If(x==7) {</a:t>
            </a: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b</a:t>
            </a:r>
            <a:r>
              <a:rPr sz="2200" dirty="0" err="1">
                <a:solidFill>
                  <a:srgbClr val="000000"/>
                </a:solidFill>
              </a:rPr>
              <a:t>reak</a:t>
            </a:r>
            <a:r>
              <a:rPr sz="2200" dirty="0">
                <a:solidFill>
                  <a:srgbClr val="000000"/>
                </a:solidFill>
              </a:rPr>
              <a:t>;</a:t>
            </a:r>
          </a:p>
          <a:p>
            <a:pPr marL="0" indent="0" algn="ctr">
              <a:buNone/>
            </a:pPr>
            <a:r>
              <a:rPr sz="2200" dirty="0">
                <a:solidFill>
                  <a:srgbClr val="000000"/>
                </a:solidFill>
              </a:rPr>
              <a:t>}</a:t>
            </a:r>
            <a:endParaRPr lang="en-IN" sz="22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}</a:t>
            </a:r>
            <a:endParaRPr sz="22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IN" sz="2200" dirty="0">
                <a:solidFill>
                  <a:srgbClr val="000000"/>
                </a:solidFill>
              </a:rPr>
              <a:t>p</a:t>
            </a:r>
            <a:r>
              <a:rPr sz="2200" dirty="0" err="1">
                <a:solidFill>
                  <a:srgbClr val="000000"/>
                </a:solidFill>
              </a:rPr>
              <a:t>rintf</a:t>
            </a:r>
            <a:r>
              <a:rPr sz="2200" dirty="0">
                <a:solidFill>
                  <a:srgbClr val="000000"/>
                </a:solidFill>
              </a:rPr>
              <a:t>(“%d\</a:t>
            </a:r>
            <a:r>
              <a:rPr sz="2200" dirty="0" err="1">
                <a:solidFill>
                  <a:srgbClr val="000000"/>
                </a:solidFill>
              </a:rPr>
              <a:t>n”,x</a:t>
            </a:r>
            <a:r>
              <a:rPr sz="2200" dirty="0">
                <a:solidFill>
                  <a:srgbClr val="000000"/>
                </a:solidFill>
              </a:rPr>
              <a:t>);</a:t>
            </a:r>
          </a:p>
          <a:p>
            <a:pPr marL="0" indent="0" algn="ctr">
              <a:buNone/>
            </a:pPr>
            <a:endParaRPr sz="2200" dirty="0">
              <a:solidFill>
                <a:srgbClr val="0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6F049-88CB-BAB9-0CC8-DE45D01CC0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lphaLcPeriod"/>
            </a:pPr>
            <a:r>
              <a:rPr lang="en-IN" b="1" dirty="0">
                <a:solidFill>
                  <a:srgbClr val="000000"/>
                </a:solidFill>
              </a:rPr>
              <a:t>3  </a:t>
            </a:r>
          </a:p>
          <a:p>
            <a:pPr marL="514350" indent="-514350">
              <a:buFont typeface="+mj-lt"/>
              <a:buAutoNum type="alphaLcPeriod"/>
            </a:pPr>
            <a:r>
              <a:rPr lang="en-IN" b="1" dirty="0">
                <a:solidFill>
                  <a:srgbClr val="000000"/>
                </a:solidFill>
              </a:rPr>
              <a:t> 5    </a:t>
            </a:r>
          </a:p>
          <a:p>
            <a:pPr marL="514350" indent="-514350">
              <a:buFont typeface="+mj-lt"/>
              <a:buAutoNum type="alphaLcPeriod"/>
            </a:pPr>
            <a:r>
              <a:rPr lang="en-IN" b="1" dirty="0">
                <a:solidFill>
                  <a:srgbClr val="000000"/>
                </a:solidFill>
                <a:highlight>
                  <a:srgbClr val="FFFF00"/>
                </a:highlight>
              </a:rPr>
              <a:t>7 </a:t>
            </a:r>
          </a:p>
          <a:p>
            <a:pPr marL="514350" indent="-514350">
              <a:buFont typeface="+mj-lt"/>
              <a:buAutoNum type="alphaLcPeriod"/>
            </a:pPr>
            <a:r>
              <a:rPr lang="en-IN" b="1" dirty="0">
                <a:solidFill>
                  <a:srgbClr val="000000"/>
                </a:solidFill>
              </a:rPr>
              <a:t> 9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Q13. What is the value of x after this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i</a:t>
            </a:r>
            <a:r>
              <a:rPr sz="2200" dirty="0" err="1">
                <a:solidFill>
                  <a:srgbClr val="000000"/>
                </a:solidFill>
              </a:rPr>
              <a:t>nt</a:t>
            </a:r>
            <a:r>
              <a:rPr sz="2200" dirty="0">
                <a:solidFill>
                  <a:srgbClr val="000000"/>
                </a:solidFill>
              </a:rPr>
              <a:t> x=2;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s</a:t>
            </a:r>
            <a:r>
              <a:rPr sz="2200" dirty="0">
                <a:solidFill>
                  <a:srgbClr val="000000"/>
                </a:solidFill>
              </a:rPr>
              <a:t>witch(x) {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c</a:t>
            </a:r>
            <a:r>
              <a:rPr sz="2200" dirty="0" err="1">
                <a:solidFill>
                  <a:srgbClr val="000000"/>
                </a:solidFill>
              </a:rPr>
              <a:t>ase</a:t>
            </a:r>
            <a:r>
              <a:rPr sz="2200" dirty="0">
                <a:solidFill>
                  <a:srgbClr val="000000"/>
                </a:solidFill>
              </a:rPr>
              <a:t> 1;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x</a:t>
            </a:r>
            <a:r>
              <a:rPr sz="2200" dirty="0">
                <a:solidFill>
                  <a:srgbClr val="000000"/>
                </a:solidFill>
              </a:rPr>
              <a:t>=4;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c</a:t>
            </a:r>
            <a:r>
              <a:rPr sz="2200" dirty="0" err="1">
                <a:solidFill>
                  <a:srgbClr val="000000"/>
                </a:solidFill>
              </a:rPr>
              <a:t>ase</a:t>
            </a:r>
            <a:r>
              <a:rPr sz="2200" dirty="0">
                <a:solidFill>
                  <a:srgbClr val="000000"/>
                </a:solidFill>
              </a:rPr>
              <a:t> 2: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x</a:t>
            </a:r>
            <a:r>
              <a:rPr sz="2200" dirty="0">
                <a:solidFill>
                  <a:srgbClr val="000000"/>
                </a:solidFill>
              </a:rPr>
              <a:t>=8;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c</a:t>
            </a:r>
            <a:r>
              <a:rPr sz="2200" dirty="0" err="1">
                <a:solidFill>
                  <a:srgbClr val="000000"/>
                </a:solidFill>
              </a:rPr>
              <a:t>ase</a:t>
            </a:r>
            <a:r>
              <a:rPr sz="2200" dirty="0">
                <a:solidFill>
                  <a:srgbClr val="000000"/>
                </a:solidFill>
              </a:rPr>
              <a:t> 3: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x</a:t>
            </a:r>
            <a:r>
              <a:rPr sz="2200" dirty="0">
                <a:solidFill>
                  <a:srgbClr val="000000"/>
                </a:solidFill>
              </a:rPr>
              <a:t>=7;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b</a:t>
            </a:r>
            <a:r>
              <a:rPr sz="2200" dirty="0" err="1">
                <a:solidFill>
                  <a:srgbClr val="000000"/>
                </a:solidFill>
              </a:rPr>
              <a:t>reak</a:t>
            </a:r>
            <a:r>
              <a:rPr sz="2200" dirty="0">
                <a:solidFill>
                  <a:srgbClr val="00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c</a:t>
            </a:r>
            <a:r>
              <a:rPr sz="2200" dirty="0" err="1">
                <a:solidFill>
                  <a:srgbClr val="000000"/>
                </a:solidFill>
              </a:rPr>
              <a:t>ase</a:t>
            </a:r>
            <a:r>
              <a:rPr sz="2200" dirty="0">
                <a:solidFill>
                  <a:srgbClr val="000000"/>
                </a:solidFill>
              </a:rPr>
              <a:t> 4: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x</a:t>
            </a:r>
            <a:r>
              <a:rPr sz="2200" dirty="0">
                <a:solidFill>
                  <a:srgbClr val="000000"/>
                </a:solidFill>
              </a:rPr>
              <a:t>=3;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C8235-945C-7F99-B046-24483553D1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pl-PL" b="1" dirty="0">
                <a:solidFill>
                  <a:srgbClr val="000000"/>
                </a:solidFill>
              </a:rPr>
              <a:t>4 </a:t>
            </a:r>
            <a:endParaRPr lang="en-IN" b="1" dirty="0">
              <a:solidFill>
                <a:srgbClr val="000000"/>
              </a:solidFill>
            </a:endParaRPr>
          </a:p>
          <a:p>
            <a:pPr marL="514350" indent="-514350">
              <a:buFont typeface="+mj-lt"/>
              <a:buAutoNum type="alphaLcPeriod"/>
            </a:pPr>
            <a:r>
              <a:rPr lang="pl-PL" b="1" dirty="0">
                <a:solidFill>
                  <a:srgbClr val="000000"/>
                </a:solidFill>
              </a:rPr>
              <a:t>8 </a:t>
            </a:r>
            <a:endParaRPr lang="en-IN" b="1" dirty="0">
              <a:solidFill>
                <a:srgbClr val="000000"/>
              </a:solidFill>
            </a:endParaRPr>
          </a:p>
          <a:p>
            <a:pPr marL="514350" indent="-514350">
              <a:buFont typeface="+mj-lt"/>
              <a:buAutoNum type="alphaLcPeriod"/>
            </a:pPr>
            <a:r>
              <a:rPr lang="pl-PL" b="1" dirty="0">
                <a:solidFill>
                  <a:srgbClr val="000000"/>
                </a:solidFill>
                <a:highlight>
                  <a:srgbClr val="FFFF00"/>
                </a:highlight>
              </a:rPr>
              <a:t>7 </a:t>
            </a:r>
            <a:endParaRPr lang="en-IN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lphaLcPeriod"/>
            </a:pPr>
            <a:r>
              <a:rPr lang="pl-PL" b="1" dirty="0">
                <a:solidFill>
                  <a:srgbClr val="000000"/>
                </a:solidFill>
              </a:rPr>
              <a:t>3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Q14. What does the following program fragment prints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dirty="0"/>
          </a:p>
          <a:p>
            <a:r>
              <a:rPr lang="en-IN" dirty="0">
                <a:solidFill>
                  <a:srgbClr val="000000"/>
                </a:solidFill>
              </a:rPr>
              <a:t>i</a:t>
            </a:r>
            <a:r>
              <a:rPr dirty="0" err="1">
                <a:solidFill>
                  <a:srgbClr val="000000"/>
                </a:solidFill>
              </a:rPr>
              <a:t>nt</a:t>
            </a:r>
            <a:r>
              <a:rPr dirty="0">
                <a:solidFill>
                  <a:srgbClr val="000000"/>
                </a:solidFill>
              </a:rPr>
              <a:t> main(){</a:t>
            </a:r>
          </a:p>
          <a:p>
            <a:r>
              <a:rPr dirty="0">
                <a:solidFill>
                  <a:srgbClr val="000000"/>
                </a:solidFill>
              </a:rPr>
              <a:t>Unsigned i=1;</a:t>
            </a:r>
          </a:p>
          <a:p>
            <a:r>
              <a:rPr dirty="0">
                <a:solidFill>
                  <a:srgbClr val="000000"/>
                </a:solidFill>
              </a:rPr>
              <a:t>Int j= -4;</a:t>
            </a:r>
          </a:p>
          <a:p>
            <a:r>
              <a:rPr dirty="0">
                <a:solidFill>
                  <a:srgbClr val="000000"/>
                </a:solidFill>
              </a:rPr>
              <a:t>Printf(“%u”,</a:t>
            </a:r>
            <a:r>
              <a:rPr dirty="0" err="1">
                <a:solidFill>
                  <a:srgbClr val="000000"/>
                </a:solidFill>
              </a:rPr>
              <a:t>i+j</a:t>
            </a:r>
            <a:r>
              <a:rPr dirty="0">
                <a:solidFill>
                  <a:srgbClr val="000000"/>
                </a:solidFill>
              </a:rPr>
              <a:t>);</a:t>
            </a:r>
          </a:p>
          <a:p>
            <a:r>
              <a:rPr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E6F4E-E0A5-CFA3-137F-9B4F5BD771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lphaLcPeriod"/>
            </a:pPr>
            <a:r>
              <a:rPr lang="en-US" b="1" dirty="0">
                <a:solidFill>
                  <a:srgbClr val="000000"/>
                </a:solidFill>
              </a:rPr>
              <a:t>Garbage  value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1" dirty="0">
                <a:solidFill>
                  <a:srgbClr val="000000"/>
                </a:solidFill>
              </a:rPr>
              <a:t>-3      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</a:rPr>
              <a:t>integer value depends from machine to machine    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1" dirty="0">
                <a:solidFill>
                  <a:srgbClr val="000000"/>
                </a:solidFill>
              </a:rPr>
              <a:t>none of the above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Q15. ASCII decimal range of characters from A ... Z  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indent="-457200">
              <a:buFont typeface="+mj-lt"/>
              <a:buAutoNum type="alphaLcPeriod"/>
            </a:pPr>
            <a:r>
              <a:rPr sz="2800" b="1" dirty="0">
                <a:solidFill>
                  <a:srgbClr val="000000"/>
                </a:solidFill>
                <a:highlight>
                  <a:srgbClr val="FFFF00"/>
                </a:highlight>
              </a:rPr>
              <a:t>65 - 90</a:t>
            </a:r>
          </a:p>
          <a:p>
            <a:pPr marL="457200" indent="-457200">
              <a:buFont typeface="+mj-lt"/>
              <a:buAutoNum type="alphaLcPeriod"/>
            </a:pPr>
            <a:r>
              <a:rPr sz="2800" b="1" dirty="0">
                <a:solidFill>
                  <a:srgbClr val="000000"/>
                </a:solidFill>
              </a:rPr>
              <a:t>97 - 122</a:t>
            </a:r>
          </a:p>
          <a:p>
            <a:pPr marL="457200" indent="-457200">
              <a:buFont typeface="+mj-lt"/>
              <a:buAutoNum type="alphaLcPeriod"/>
            </a:pPr>
            <a:r>
              <a:rPr sz="2800" b="1" dirty="0">
                <a:solidFill>
                  <a:srgbClr val="000000"/>
                </a:solidFill>
              </a:rPr>
              <a:t>100 - 127</a:t>
            </a:r>
          </a:p>
          <a:p>
            <a:pPr marL="457200" indent="-457200">
              <a:buFont typeface="+mj-lt"/>
              <a:buAutoNum type="alphaLcPeriod"/>
            </a:pPr>
            <a:r>
              <a:rPr sz="2800" b="1" dirty="0">
                <a:solidFill>
                  <a:srgbClr val="000000"/>
                </a:solidFill>
              </a:rPr>
              <a:t>- 28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3366"/>
                </a:solidFill>
              </a:rPr>
              <a:t>Q</a:t>
            </a:r>
            <a:r>
              <a:rPr lang="en-IN" sz="2800" b="1" dirty="0">
                <a:solidFill>
                  <a:srgbClr val="003366"/>
                </a:solidFill>
              </a:rPr>
              <a:t>16</a:t>
            </a:r>
            <a:r>
              <a:rPr sz="2800" b="1" dirty="0">
                <a:solidFill>
                  <a:srgbClr val="003366"/>
                </a:solidFill>
              </a:rPr>
              <a:t>. What is the output of the following C program fragment?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84914" cy="4525963"/>
          </a:xfrm>
        </p:spPr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int a = 1;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int b = 1;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int c = ++a | | b++;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int d = b -- &amp;&amp; -- a;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printf("%d %d %d %d", d, c, b, </a:t>
            </a:r>
            <a:r>
              <a:rPr lang="en-IN" sz="2200" dirty="0">
                <a:solidFill>
                  <a:srgbClr val="000000"/>
                </a:solidFill>
              </a:rPr>
              <a:t>a);</a:t>
            </a:r>
          </a:p>
          <a:p>
            <a:pPr marL="0" indent="0">
              <a:buNone/>
            </a:pPr>
            <a:endParaRPr lang="en-IN" sz="2200" dirty="0">
              <a:solidFill>
                <a:srgbClr val="0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92E3B-708A-EAF3-9C6B-20729D3E5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5400" y="1600200"/>
            <a:ext cx="35814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pt-BR" b="1" dirty="0">
                <a:solidFill>
                  <a:srgbClr val="000000"/>
                </a:solidFill>
              </a:rPr>
              <a:t> 1111</a:t>
            </a:r>
          </a:p>
          <a:p>
            <a:pPr marL="514350" indent="-514350">
              <a:buFont typeface="+mj-lt"/>
              <a:buAutoNum type="alphaLcPeriod"/>
            </a:pPr>
            <a:r>
              <a:rPr lang="pt-BR" b="1" dirty="0">
                <a:solidFill>
                  <a:srgbClr val="000000"/>
                </a:solidFill>
              </a:rPr>
              <a:t> 0100</a:t>
            </a:r>
          </a:p>
          <a:p>
            <a:pPr marL="514350" indent="-514350">
              <a:buFont typeface="+mj-lt"/>
              <a:buAutoNum type="alphaLcPeriod"/>
            </a:pPr>
            <a:r>
              <a:rPr lang="pt-BR" b="1" dirty="0">
                <a:solidFill>
                  <a:srgbClr val="000000"/>
                </a:solidFill>
              </a:rPr>
              <a:t>1001</a:t>
            </a:r>
          </a:p>
          <a:p>
            <a:pPr marL="514350" indent="-514350">
              <a:buFont typeface="+mj-lt"/>
              <a:buAutoNum type="alphaLcPeriod"/>
            </a:pPr>
            <a:r>
              <a:rPr lang="pt-BR" b="1" dirty="0">
                <a:solidFill>
                  <a:srgbClr val="000000"/>
                </a:solidFill>
              </a:rPr>
              <a:t> </a:t>
            </a:r>
            <a:r>
              <a:rPr lang="pt-BR" b="1" dirty="0">
                <a:solidFill>
                  <a:srgbClr val="000000"/>
                </a:solidFill>
                <a:highlight>
                  <a:srgbClr val="FFFF00"/>
                </a:highlight>
              </a:rPr>
              <a:t>1101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0AEC1-FA91-C25C-63C5-B3DCF8AC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EA41-75AB-6CE7-52B1-588538F6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b="1" dirty="0">
                <a:solidFill>
                  <a:srgbClr val="003366"/>
                </a:solidFill>
              </a:rPr>
              <a:t>Q1</a:t>
            </a:r>
            <a:r>
              <a:rPr lang="en-IN" sz="2800" b="1" dirty="0">
                <a:solidFill>
                  <a:srgbClr val="003366"/>
                </a:solidFill>
              </a:rPr>
              <a:t>7</a:t>
            </a:r>
            <a:r>
              <a:rPr sz="2800" b="1" dirty="0">
                <a:solidFill>
                  <a:srgbClr val="003366"/>
                </a:solidFill>
              </a:rPr>
              <a:t>. 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b="1" dirty="0">
                <a:solidFill>
                  <a:schemeClr val="tx2"/>
                </a:solidFill>
              </a:rPr>
              <a:t>How many times will "Hello, World" be printed in the below program</a:t>
            </a:r>
            <a:br>
              <a:rPr lang="en-US" sz="2800" dirty="0">
                <a:solidFill>
                  <a:srgbClr val="000000"/>
                </a:solidFill>
              </a:rPr>
            </a:br>
            <a:r>
              <a:rPr sz="2800" b="1" dirty="0">
                <a:solidFill>
                  <a:srgbClr val="003366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EFBD9-CC5B-2E1F-DFEE-2797BE9BAA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#include &lt;stdio.h&gt;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int main() {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int i = 1024;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for(; i; i &gt;&gt;=1)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printf("Hello, World");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return 0;</a:t>
            </a:r>
            <a:endParaRPr lang="en-IN" sz="2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}</a:t>
            </a:r>
            <a:endParaRPr sz="2200" dirty="0">
              <a:solidFill>
                <a:srgbClr val="00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3C5EC-C1CE-5A91-A255-C4F21F0C13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0000"/>
                </a:solidFill>
              </a:rPr>
              <a:t>a) 10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0000"/>
                </a:solidFill>
              </a:rPr>
              <a:t>b) </a:t>
            </a:r>
            <a:r>
              <a:rPr lang="en-IN" b="1" dirty="0">
                <a:solidFill>
                  <a:srgbClr val="000000"/>
                </a:solidFill>
                <a:highlight>
                  <a:srgbClr val="FFFF00"/>
                </a:highlight>
              </a:rPr>
              <a:t>11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0000"/>
                </a:solidFill>
              </a:rPr>
              <a:t>c) infinite</a:t>
            </a:r>
          </a:p>
          <a:p>
            <a:pPr marL="0" indent="0">
              <a:buNone/>
            </a:pPr>
            <a:r>
              <a:rPr lang="en-IN" b="1" dirty="0">
                <a:solidFill>
                  <a:srgbClr val="000000"/>
                </a:solidFill>
              </a:rPr>
              <a:t>d) compile time error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71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3366"/>
                </a:solidFill>
              </a:rPr>
              <a:t>Q1</a:t>
            </a:r>
            <a:r>
              <a:rPr lang="en-IN" sz="2800" b="1" dirty="0">
                <a:solidFill>
                  <a:srgbClr val="003366"/>
                </a:solidFill>
              </a:rPr>
              <a:t>8</a:t>
            </a:r>
            <a:r>
              <a:rPr sz="2800" b="1" dirty="0">
                <a:solidFill>
                  <a:srgbClr val="003366"/>
                </a:solidFill>
              </a:rPr>
              <a:t>. What is the output of the following C program fragment?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#include &lt;stdio.h&gt;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void main(){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int i;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for(i=0; i&lt;20; i++){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switch(i)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{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case 0: i += 5;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case 1: i += 2;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case 5: i += 5;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default: i += 4;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}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printf("%d ",i);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}}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21E2F-A008-8F21-F460-F09BD2EDCA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a)5 10 15 20</a:t>
            </a:r>
          </a:p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b) 7 12 17 22</a:t>
            </a:r>
          </a:p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c) </a:t>
            </a:r>
            <a:r>
              <a:rPr lang="es-ES" b="1" dirty="0" err="1">
                <a:solidFill>
                  <a:srgbClr val="000000"/>
                </a:solidFill>
              </a:rPr>
              <a:t>Compiler</a:t>
            </a:r>
            <a:r>
              <a:rPr lang="es-ES" b="1" dirty="0">
                <a:solidFill>
                  <a:srgbClr val="000000"/>
                </a:solidFill>
              </a:rPr>
              <a:t> error</a:t>
            </a:r>
          </a:p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d) </a:t>
            </a:r>
            <a:r>
              <a:rPr lang="es-ES" b="1" dirty="0">
                <a:solidFill>
                  <a:srgbClr val="000000"/>
                </a:solidFill>
                <a:highlight>
                  <a:srgbClr val="FFFF00"/>
                </a:highlight>
              </a:rPr>
              <a:t>16 21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3366"/>
                </a:solidFill>
              </a:rPr>
              <a:t>Q1</a:t>
            </a:r>
            <a:r>
              <a:rPr lang="en-IN" sz="2800" b="1" dirty="0">
                <a:solidFill>
                  <a:srgbClr val="003366"/>
                </a:solidFill>
              </a:rPr>
              <a:t>9</a:t>
            </a:r>
            <a:r>
              <a:rPr sz="2800" b="1" dirty="0">
                <a:solidFill>
                  <a:srgbClr val="003366"/>
                </a:solidFill>
              </a:rPr>
              <a:t>. How many times will "BCA-B" be printed on the screen?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int i = -5;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while(i &lt;= 5)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if(i &gt;= 0)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break;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else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{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i++;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continue;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000000"/>
                </a:solidFill>
              </a:rPr>
              <a:t>printf("BCA-B");</a:t>
            </a:r>
            <a:endParaRPr sz="22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B42C0-7E80-96DA-6ADF-FFB53D8649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</a:rPr>
              <a:t>a) 10 times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</a:rPr>
              <a:t>b) 5 times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</a:rPr>
              <a:t>c) Infinite times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</a:rPr>
              <a:t>d) 0 times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366"/>
                </a:solidFill>
              </a:rPr>
              <a:t>Q20. What is the output of the following C program fragment?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#include &lt;stdio.h&gt;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int main()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int x = 3;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if(x == 2) x = 0;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if(x == 3) x++;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else x += 2;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printf("x=%d", x);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return 0;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CB9EE-48A4-6B51-80C1-C296E37A99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a</a:t>
            </a:r>
            <a:r>
              <a:rPr lang="es-ES" b="1" dirty="0">
                <a:solidFill>
                  <a:srgbClr val="000000"/>
                </a:solidFill>
                <a:highlight>
                  <a:srgbClr val="FFFF00"/>
                </a:highlight>
              </a:rPr>
              <a:t>) x = 4</a:t>
            </a:r>
          </a:p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b) x = 2</a:t>
            </a:r>
          </a:p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c) </a:t>
            </a:r>
            <a:r>
              <a:rPr lang="es-ES" b="1" dirty="0" err="1">
                <a:solidFill>
                  <a:srgbClr val="000000"/>
                </a:solidFill>
              </a:rPr>
              <a:t>Compiler</a:t>
            </a:r>
            <a:r>
              <a:rPr lang="es-ES" b="1" dirty="0">
                <a:solidFill>
                  <a:srgbClr val="000000"/>
                </a:solidFill>
              </a:rPr>
              <a:t> error</a:t>
            </a:r>
          </a:p>
          <a:p>
            <a:pPr marL="0" indent="0">
              <a:buNone/>
            </a:pPr>
            <a:r>
              <a:rPr lang="es-ES" b="1" dirty="0">
                <a:solidFill>
                  <a:srgbClr val="000000"/>
                </a:solidFill>
              </a:rPr>
              <a:t>d) x = 0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4000" advClick="0" advTm="18000">
        <p:push dir="u"/>
      </p:transition>
    </mc:Choice>
    <mc:Fallback xmlns="">
      <p:transition spd="slow" advClick="0" advTm="18000">
        <p:push dir="u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2633</TotalTime>
  <Words>978</Words>
  <Application>Microsoft Office PowerPoint</Application>
  <PresentationFormat>On-screen Show (4:3)</PresentationFormat>
  <Paragraphs>217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Quiz I Programming in c </vt:lpstr>
      <vt:lpstr>Q1. Which of the following is the correct code to output the text “Hello”</vt:lpstr>
      <vt:lpstr>Q2. Which of the following is the format specifier for whole numbers?</vt:lpstr>
      <vt:lpstr>Q3. What is the output of this code?</vt:lpstr>
      <vt:lpstr>Q4. What is the output of this code?</vt:lpstr>
      <vt:lpstr>Q5. What is the output of this code?</vt:lpstr>
      <vt:lpstr>Q6. What is the output of this code?</vt:lpstr>
      <vt:lpstr>Q7. Which choice indicates a valid single-line comment?</vt:lpstr>
      <vt:lpstr>Q8. Which is not a keyword</vt:lpstr>
      <vt:lpstr>Q9. How many times loop will run?</vt:lpstr>
      <vt:lpstr>Q10 what is the output of this code?</vt:lpstr>
      <vt:lpstr>Q11. What is the output of this code?</vt:lpstr>
      <vt:lpstr>Q12. what is the value of x?</vt:lpstr>
      <vt:lpstr>Q13. What is the value of x after this code?</vt:lpstr>
      <vt:lpstr>Q14. What does the following program fragment prints</vt:lpstr>
      <vt:lpstr>Q15. ASCII decimal range of characters from A ... Z  is?</vt:lpstr>
      <vt:lpstr>Q16. What is the output of the following C program fragment?</vt:lpstr>
      <vt:lpstr>Q17.  How many times will "Hello, World" be printed in the below program ?</vt:lpstr>
      <vt:lpstr>Q18. What is the output of the following C program fragment?</vt:lpstr>
      <vt:lpstr>Q19. How many times will "BCA-B" be printed on the screen?</vt:lpstr>
      <vt:lpstr>Q20. What is the output of the following C program fragment?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Mohd Adil</cp:lastModifiedBy>
  <cp:revision>60</cp:revision>
  <dcterms:created xsi:type="dcterms:W3CDTF">2013-01-27T09:14:16Z</dcterms:created>
  <dcterms:modified xsi:type="dcterms:W3CDTF">2025-09-25T11:00:03Z</dcterms:modified>
  <cp:category/>
</cp:coreProperties>
</file>